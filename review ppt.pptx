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2" d="100"/>
          <a:sy n="92" d="100"/>
        </p:scale>
        <p:origin x="24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26704F2D-0B21-4EF2-BF9C-BDB360B6DC1E}"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AD29E6-D7B1-4815-AF92-E7AD21AE0E9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2888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6704F2D-0B21-4EF2-BF9C-BDB360B6DC1E}"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1892888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6704F2D-0B21-4EF2-BF9C-BDB360B6DC1E}"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AD29E6-D7B1-4815-AF92-E7AD21AE0E9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337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26704F2D-0B21-4EF2-BF9C-BDB360B6DC1E}"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809748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26704F2D-0B21-4EF2-BF9C-BDB360B6DC1E}"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2195186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26704F2D-0B21-4EF2-BF9C-BDB360B6DC1E}" type="datetimeFigureOut">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4252489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6704F2D-0B21-4EF2-BF9C-BDB360B6DC1E}" type="datetimeFigureOut">
              <a:rPr lang="en-IN" smtClean="0"/>
              <a:t>09-03-2026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500302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6704F2D-0B21-4EF2-BF9C-BDB360B6DC1E}" type="datetimeFigureOut">
              <a:rPr lang="en-IN" smtClean="0"/>
              <a:t>09-03-2026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AAD29E6-D7B1-4815-AF92-E7AD21AE0E97}" type="slidenum">
              <a:rPr lang="en-IN" smtClean="0"/>
              <a:t>‹#›</a:t>
            </a:fld>
            <a:endParaRPr lang="en-IN"/>
          </a:p>
        </p:txBody>
      </p:sp>
    </p:spTree>
    <p:extLst>
      <p:ext uri="{BB962C8B-B14F-4D97-AF65-F5344CB8AC3E}">
        <p14:creationId xmlns:p14="http://schemas.microsoft.com/office/powerpoint/2010/main" val="2810965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26704F2D-0B21-4EF2-BF9C-BDB360B6DC1E}"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3701425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6704F2D-0B21-4EF2-BF9C-BDB360B6DC1E}"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1373814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6704F2D-0B21-4EF2-BF9C-BDB360B6DC1E}"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AD29E6-D7B1-4815-AF92-E7AD21AE0E97}" type="slidenum">
              <a:rPr lang="en-IN" smtClean="0"/>
              <a:t>‹#›</a:t>
            </a:fld>
            <a:endParaRPr lang="en-IN"/>
          </a:p>
        </p:txBody>
      </p:sp>
    </p:spTree>
    <p:extLst>
      <p:ext uri="{BB962C8B-B14F-4D97-AF65-F5344CB8AC3E}">
        <p14:creationId xmlns:p14="http://schemas.microsoft.com/office/powerpoint/2010/main" val="204608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6704F2D-0B21-4EF2-BF9C-BDB360B6DC1E}" type="datetimeFigureOut">
              <a:rPr lang="en-IN" smtClean="0"/>
              <a:t>09-03-2026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AAD29E6-D7B1-4815-AF92-E7AD21AE0E9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12649"/>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82685-E74C-4D12-53B0-CEF68CA2287B}"/>
              </a:ext>
            </a:extLst>
          </p:cNvPr>
          <p:cNvSpPr>
            <a:spLocks noGrp="1"/>
          </p:cNvSpPr>
          <p:nvPr>
            <p:ph type="ctrTitle"/>
          </p:nvPr>
        </p:nvSpPr>
        <p:spPr/>
        <p:txBody>
          <a:bodyPr>
            <a:normAutofit/>
          </a:bodyPr>
          <a:lstStyle/>
          <a:p>
            <a:r>
              <a:rPr lang="en-US" sz="4400" dirty="0"/>
              <a:t>                  Automation and Manual Testing of Amazon E-Commerce Website</a:t>
            </a:r>
            <a:endParaRPr lang="en-IN" sz="4400" dirty="0"/>
          </a:p>
        </p:txBody>
      </p:sp>
      <p:sp>
        <p:nvSpPr>
          <p:cNvPr id="3" name="Subtitle 2">
            <a:extLst>
              <a:ext uri="{FF2B5EF4-FFF2-40B4-BE49-F238E27FC236}">
                <a16:creationId xmlns:a16="http://schemas.microsoft.com/office/drawing/2014/main" id="{6D7C3109-B408-DA0C-F8A8-6E51E2C272A4}"/>
              </a:ext>
            </a:extLst>
          </p:cNvPr>
          <p:cNvSpPr>
            <a:spLocks noGrp="1"/>
          </p:cNvSpPr>
          <p:nvPr>
            <p:ph type="subTitle" idx="1"/>
          </p:nvPr>
        </p:nvSpPr>
        <p:spPr/>
        <p:txBody>
          <a:bodyPr>
            <a:normAutofit fontScale="92500"/>
          </a:bodyPr>
          <a:lstStyle/>
          <a:p>
            <a:r>
              <a:rPr lang="en-US" dirty="0"/>
              <a:t>Using Selenium WebDriver, TestNG, and Page Object Model</a:t>
            </a:r>
          </a:p>
          <a:p>
            <a:r>
              <a:rPr lang="en-US" dirty="0"/>
              <a:t>                                                                 -</a:t>
            </a:r>
            <a:r>
              <a:rPr lang="en-US" i="1" dirty="0"/>
              <a:t>NANDHINI Ganesan MCA</a:t>
            </a:r>
            <a:endParaRPr lang="en-IN" i="1" dirty="0"/>
          </a:p>
        </p:txBody>
      </p:sp>
    </p:spTree>
    <p:extLst>
      <p:ext uri="{BB962C8B-B14F-4D97-AF65-F5344CB8AC3E}">
        <p14:creationId xmlns:p14="http://schemas.microsoft.com/office/powerpoint/2010/main" val="222466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757CD-81A2-C38F-0263-24106A6BCEF3}"/>
              </a:ext>
            </a:extLst>
          </p:cNvPr>
          <p:cNvSpPr>
            <a:spLocks noGrp="1"/>
          </p:cNvSpPr>
          <p:nvPr>
            <p:ph type="title"/>
          </p:nvPr>
        </p:nvSpPr>
        <p:spPr/>
        <p:txBody>
          <a:bodyPr/>
          <a:lstStyle/>
          <a:p>
            <a:r>
              <a:rPr lang="en-IN" dirty="0"/>
              <a:t>Project Objective</a:t>
            </a:r>
          </a:p>
        </p:txBody>
      </p:sp>
      <p:sp>
        <p:nvSpPr>
          <p:cNvPr id="3" name="Content Placeholder 2">
            <a:extLst>
              <a:ext uri="{FF2B5EF4-FFF2-40B4-BE49-F238E27FC236}">
                <a16:creationId xmlns:a16="http://schemas.microsoft.com/office/drawing/2014/main" id="{A01CCF92-3A1B-A25D-929E-38BF70A34196}"/>
              </a:ext>
            </a:extLst>
          </p:cNvPr>
          <p:cNvSpPr>
            <a:spLocks noGrp="1"/>
          </p:cNvSpPr>
          <p:nvPr>
            <p:ph idx="1"/>
          </p:nvPr>
        </p:nvSpPr>
        <p:spPr/>
        <p:txBody>
          <a:bodyPr/>
          <a:lstStyle/>
          <a:p>
            <a:pPr>
              <a:buFont typeface="Wingdings" panose="05000000000000000000" pitchFamily="2" charset="2"/>
              <a:buChar char="v"/>
            </a:pPr>
            <a:r>
              <a:rPr lang="en-US" dirty="0"/>
              <a:t>To validate the functionality of Amazon e-commerce website through </a:t>
            </a:r>
            <a:r>
              <a:rPr lang="en-US" b="1" dirty="0"/>
              <a:t>manual testing and automation testing.</a:t>
            </a:r>
            <a:endParaRPr lang="en-US" dirty="0"/>
          </a:p>
          <a:p>
            <a:pPr>
              <a:buFont typeface="Wingdings" panose="05000000000000000000" pitchFamily="2" charset="2"/>
              <a:buChar char="v"/>
            </a:pPr>
            <a:r>
              <a:rPr lang="en-US" dirty="0"/>
              <a:t>To ensure all modules such as </a:t>
            </a:r>
            <a:r>
              <a:rPr lang="en-US" b="1" dirty="0"/>
              <a:t>Homepage, Search, Product Listing, Navigation, Login, and Footer</a:t>
            </a:r>
            <a:r>
              <a:rPr lang="en-US" dirty="0"/>
              <a:t> are working correctly.</a:t>
            </a:r>
          </a:p>
          <a:p>
            <a:pPr>
              <a:buFont typeface="Wingdings" panose="05000000000000000000" pitchFamily="2" charset="2"/>
              <a:buChar char="v"/>
            </a:pPr>
            <a:r>
              <a:rPr lang="en-US" dirty="0"/>
              <a:t>To </a:t>
            </a:r>
            <a:r>
              <a:rPr lang="en-US" b="1" dirty="0"/>
              <a:t>prepare for automation testing</a:t>
            </a:r>
            <a:r>
              <a:rPr lang="en-US" dirty="0"/>
              <a:t> using Selenium WebDriver and TestNG in the future.</a:t>
            </a:r>
          </a:p>
          <a:p>
            <a:pPr>
              <a:buFont typeface="Wingdings" panose="05000000000000000000" pitchFamily="2" charset="2"/>
              <a:buChar char="v"/>
            </a:pPr>
            <a:r>
              <a:rPr lang="en-US" dirty="0"/>
              <a:t>To provide a </a:t>
            </a:r>
            <a:r>
              <a:rPr lang="en-US" b="1" dirty="0"/>
              <a:t>complete QA workflow project</a:t>
            </a:r>
            <a:r>
              <a:rPr lang="en-US" dirty="0"/>
              <a:t> for academic and professional review.</a:t>
            </a:r>
          </a:p>
          <a:p>
            <a:endParaRPr lang="en-IN" dirty="0"/>
          </a:p>
        </p:txBody>
      </p:sp>
    </p:spTree>
    <p:extLst>
      <p:ext uri="{BB962C8B-B14F-4D97-AF65-F5344CB8AC3E}">
        <p14:creationId xmlns:p14="http://schemas.microsoft.com/office/powerpoint/2010/main" val="262594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7683127-AA4C-9A5F-2105-F519903CDED6}"/>
              </a:ext>
            </a:extLst>
          </p:cNvPr>
          <p:cNvSpPr>
            <a:spLocks noGrp="1" noChangeArrowheads="1"/>
          </p:cNvSpPr>
          <p:nvPr>
            <p:ph idx="1"/>
          </p:nvPr>
        </p:nvSpPr>
        <p:spPr bwMode="auto">
          <a:xfrm>
            <a:off x="1230284" y="312735"/>
            <a:ext cx="973420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sz="1800" b="1"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sz="1800" b="1"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sz="1800" b="1"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Java JDK</a:t>
            </a:r>
            <a:r>
              <a:rPr kumimoji="0" lang="en-US" altLang="en-US" sz="1800" b="0" i="0" u="none" strike="noStrike" cap="none" normalizeH="0" baseline="0" dirty="0">
                <a:ln>
                  <a:noFill/>
                </a:ln>
                <a:solidFill>
                  <a:schemeClr val="tx1"/>
                </a:solidFill>
                <a:effectLst/>
                <a:latin typeface="Arial" panose="020B0604020202020204" pitchFamily="34" charset="0"/>
              </a:rPr>
              <a:t> – Required for Selenium and automation code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Eclipse IDE</a:t>
            </a:r>
            <a:r>
              <a:rPr kumimoji="0" lang="en-US" altLang="en-US" sz="1800" b="0" i="0" u="none" strike="noStrike" cap="none" normalizeH="0" baseline="0" dirty="0">
                <a:ln>
                  <a:noFill/>
                </a:ln>
                <a:solidFill>
                  <a:schemeClr val="tx1"/>
                </a:solidFill>
                <a:effectLst/>
                <a:latin typeface="Arial" panose="020B0604020202020204" pitchFamily="34" charset="0"/>
              </a:rPr>
              <a:t> – Writing and running automation scripts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sz="1800"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1800" b="1" dirty="0">
                <a:solidFill>
                  <a:schemeClr val="tx1"/>
                </a:solidFill>
                <a:latin typeface="Arial" panose="020B0604020202020204" pitchFamily="34" charset="0"/>
              </a:rPr>
              <a:t>EXCEL</a:t>
            </a:r>
            <a:r>
              <a:rPr lang="en-US" altLang="en-US" sz="1800" dirty="0">
                <a:solidFill>
                  <a:schemeClr val="tx1"/>
                </a:solidFill>
                <a:latin typeface="Arial" panose="020B0604020202020204" pitchFamily="34" charset="0"/>
              </a:rPr>
              <a:t> – Tools for manual testing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Selenium WebDriver</a:t>
            </a:r>
            <a:r>
              <a:rPr kumimoji="0" lang="en-US" altLang="en-US" sz="1800" b="0" i="0" u="none" strike="noStrike" cap="none" normalizeH="0" baseline="0" dirty="0">
                <a:ln>
                  <a:noFill/>
                </a:ln>
                <a:solidFill>
                  <a:schemeClr val="tx1"/>
                </a:solidFill>
                <a:effectLst/>
                <a:latin typeface="Arial" panose="020B0604020202020204" pitchFamily="34" charset="0"/>
              </a:rPr>
              <a:t> – Automating browser actions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TestNG</a:t>
            </a:r>
            <a:r>
              <a:rPr kumimoji="0" lang="en-US" altLang="en-US" sz="1800" b="0" i="0" u="none" strike="noStrike" cap="none" normalizeH="0" baseline="0" dirty="0">
                <a:ln>
                  <a:noFill/>
                </a:ln>
                <a:solidFill>
                  <a:schemeClr val="tx1"/>
                </a:solidFill>
                <a:effectLst/>
                <a:latin typeface="Arial" panose="020B0604020202020204" pitchFamily="34" charset="0"/>
              </a:rPr>
              <a:t> – Running tests and generating reports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Chrome Driver</a:t>
            </a:r>
            <a:r>
              <a:rPr kumimoji="0" lang="en-US" altLang="en-US" sz="1800" b="0" i="0" u="none" strike="noStrike" cap="none" normalizeH="0" baseline="0" dirty="0">
                <a:ln>
                  <a:noFill/>
                </a:ln>
                <a:solidFill>
                  <a:schemeClr val="tx1"/>
                </a:solidFill>
                <a:effectLst/>
                <a:latin typeface="Arial" panose="020B0604020202020204" pitchFamily="34" charset="0"/>
              </a:rPr>
              <a:t> – Connecting Selenium with Google Chrome</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itle 7">
            <a:extLst>
              <a:ext uri="{FF2B5EF4-FFF2-40B4-BE49-F238E27FC236}">
                <a16:creationId xmlns:a16="http://schemas.microsoft.com/office/drawing/2014/main" id="{97C679AA-FF87-6B2B-E7AD-DA8CE981064B}"/>
              </a:ext>
            </a:extLst>
          </p:cNvPr>
          <p:cNvSpPr>
            <a:spLocks noGrp="1"/>
          </p:cNvSpPr>
          <p:nvPr>
            <p:ph type="title"/>
          </p:nvPr>
        </p:nvSpPr>
        <p:spPr/>
        <p:txBody>
          <a:bodyPr/>
          <a:lstStyle/>
          <a:p>
            <a:r>
              <a:rPr lang="en-IN" dirty="0"/>
              <a:t>Technologies Used</a:t>
            </a:r>
          </a:p>
        </p:txBody>
      </p:sp>
    </p:spTree>
    <p:extLst>
      <p:ext uri="{BB962C8B-B14F-4D97-AF65-F5344CB8AC3E}">
        <p14:creationId xmlns:p14="http://schemas.microsoft.com/office/powerpoint/2010/main" val="30169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85EA-9538-C259-4B55-6BA3DEC8FC86}"/>
              </a:ext>
            </a:extLst>
          </p:cNvPr>
          <p:cNvSpPr>
            <a:spLocks noGrp="1"/>
          </p:cNvSpPr>
          <p:nvPr>
            <p:ph type="title"/>
          </p:nvPr>
        </p:nvSpPr>
        <p:spPr>
          <a:xfrm>
            <a:off x="1097280" y="286603"/>
            <a:ext cx="10058400" cy="1559131"/>
          </a:xfrm>
        </p:spPr>
        <p:txBody>
          <a:bodyPr>
            <a:normAutofit/>
          </a:bodyPr>
          <a:lstStyle/>
          <a:p>
            <a:r>
              <a:rPr lang="en-IN" dirty="0"/>
              <a:t>Manual Testing</a:t>
            </a:r>
          </a:p>
        </p:txBody>
      </p:sp>
      <p:sp>
        <p:nvSpPr>
          <p:cNvPr id="4" name="Rectangle 1">
            <a:extLst>
              <a:ext uri="{FF2B5EF4-FFF2-40B4-BE49-F238E27FC236}">
                <a16:creationId xmlns:a16="http://schemas.microsoft.com/office/drawing/2014/main" id="{DFF13412-569D-8A18-3BF8-B1CB23F4FECD}"/>
              </a:ext>
            </a:extLst>
          </p:cNvPr>
          <p:cNvSpPr>
            <a:spLocks noGrp="1" noChangeArrowheads="1"/>
          </p:cNvSpPr>
          <p:nvPr>
            <p:ph idx="1"/>
          </p:nvPr>
        </p:nvSpPr>
        <p:spPr bwMode="auto">
          <a:xfrm>
            <a:off x="1097280" y="1733758"/>
            <a:ext cx="1046953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Arial" panose="020B0604020202020204" pitchFamily="34" charset="0"/>
              </a:rPr>
              <a:t>Manual Testing</a:t>
            </a:r>
            <a:r>
              <a:rPr kumimoji="0" lang="en-US" altLang="en-US" sz="1800" b="0" i="0" u="none" strike="noStrike" cap="none" normalizeH="0" baseline="0" dirty="0">
                <a:ln>
                  <a:noFill/>
                </a:ln>
                <a:solidFill>
                  <a:schemeClr val="tx1"/>
                </a:solidFill>
                <a:effectLst/>
                <a:latin typeface="Arial" panose="020B0604020202020204" pitchFamily="34" charset="0"/>
              </a:rPr>
              <a:t> is the process of testing a software application </a:t>
            </a:r>
            <a:r>
              <a:rPr kumimoji="0" lang="en-US" altLang="en-US" sz="1800" b="1" i="0" u="none" strike="noStrike" cap="none" normalizeH="0" baseline="0" dirty="0">
                <a:ln>
                  <a:noFill/>
                </a:ln>
                <a:solidFill>
                  <a:schemeClr val="tx1"/>
                </a:solidFill>
                <a:effectLst/>
                <a:latin typeface="Arial" panose="020B0604020202020204" pitchFamily="34" charset="0"/>
              </a:rPr>
              <a:t>without using automation tools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Testers </a:t>
            </a:r>
            <a:r>
              <a:rPr kumimoji="0" lang="en-US" altLang="en-US" sz="1800" b="1" i="0" u="none" strike="noStrike" cap="none" normalizeH="0" baseline="0" dirty="0">
                <a:ln>
                  <a:noFill/>
                </a:ln>
                <a:solidFill>
                  <a:schemeClr val="tx1"/>
                </a:solidFill>
                <a:effectLst/>
                <a:latin typeface="Arial" panose="020B0604020202020204" pitchFamily="34" charset="0"/>
              </a:rPr>
              <a:t>execute test cases manually</a:t>
            </a:r>
            <a:r>
              <a:rPr kumimoji="0" lang="en-US" altLang="en-US" sz="1800" b="0" i="0" u="none" strike="noStrike" cap="none" normalizeH="0" baseline="0" dirty="0">
                <a:ln>
                  <a:noFill/>
                </a:ln>
                <a:solidFill>
                  <a:schemeClr val="tx1"/>
                </a:solidFill>
                <a:effectLst/>
                <a:latin typeface="Arial" panose="020B0604020202020204" pitchFamily="34" charset="0"/>
              </a:rPr>
              <a:t> and verify if the software behaves as expected.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Helps in identifying </a:t>
            </a:r>
            <a:r>
              <a:rPr kumimoji="0" lang="en-US" altLang="en-US" sz="1800" b="1" i="0" u="none" strike="noStrike" cap="none" normalizeH="0" baseline="0" dirty="0">
                <a:ln>
                  <a:noFill/>
                </a:ln>
                <a:solidFill>
                  <a:schemeClr val="tx1"/>
                </a:solidFill>
                <a:effectLst/>
                <a:latin typeface="Arial" panose="020B0604020202020204" pitchFamily="34" charset="0"/>
              </a:rPr>
              <a:t>bugs, errors, and functional issues</a:t>
            </a:r>
            <a:r>
              <a:rPr kumimoji="0" lang="en-US" altLang="en-US" sz="1800" b="0" i="0" u="none" strike="noStrike" cap="none" normalizeH="0" baseline="0" dirty="0">
                <a:ln>
                  <a:noFill/>
                </a:ln>
                <a:solidFill>
                  <a:schemeClr val="tx1"/>
                </a:solidFill>
                <a:effectLst/>
                <a:latin typeface="Arial" panose="020B0604020202020204" pitchFamily="34" charset="0"/>
              </a:rPr>
              <a:t> before automation.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Steps followed in manual testing (for Amazon project):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Requirement Understanding</a:t>
            </a:r>
            <a:r>
              <a:rPr kumimoji="0" lang="en-US" altLang="en-US" sz="1800" b="0" i="0" u="none" strike="noStrike" cap="none" normalizeH="0" baseline="0" dirty="0">
                <a:ln>
                  <a:noFill/>
                </a:ln>
                <a:solidFill>
                  <a:schemeClr val="tx1"/>
                </a:solidFill>
                <a:effectLst/>
                <a:latin typeface="Arial" panose="020B0604020202020204" pitchFamily="34" charset="0"/>
              </a:rPr>
              <a:t> – Analyze website modules and functionality.</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Test Scenario Creation</a:t>
            </a:r>
            <a:r>
              <a:rPr kumimoji="0" lang="en-US" altLang="en-US" sz="1800" b="0" i="0" u="none" strike="noStrike" cap="none" normalizeH="0" baseline="0" dirty="0">
                <a:ln>
                  <a:noFill/>
                </a:ln>
                <a:solidFill>
                  <a:schemeClr val="tx1"/>
                </a:solidFill>
                <a:effectLst/>
                <a:latin typeface="Arial" panose="020B0604020202020204" pitchFamily="34" charset="0"/>
              </a:rPr>
              <a:t> – Identify all possible scenarios to test.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Test Case Writing</a:t>
            </a:r>
            <a:r>
              <a:rPr kumimoji="0" lang="en-US" altLang="en-US" sz="1800" b="0" i="0" u="none" strike="noStrike" cap="none" normalizeH="0" baseline="0" dirty="0">
                <a:ln>
                  <a:noFill/>
                </a:ln>
                <a:solidFill>
                  <a:schemeClr val="tx1"/>
                </a:solidFill>
                <a:effectLst/>
                <a:latin typeface="Arial" panose="020B0604020202020204" pitchFamily="34" charset="0"/>
              </a:rPr>
              <a:t> – Write step-by-step instructions with expected results.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Test Execution</a:t>
            </a:r>
            <a:r>
              <a:rPr kumimoji="0" lang="en-US" altLang="en-US" sz="1800" b="0" i="0" u="none" strike="noStrike" cap="none" normalizeH="0" baseline="0" dirty="0">
                <a:ln>
                  <a:noFill/>
                </a:ln>
                <a:solidFill>
                  <a:schemeClr val="tx1"/>
                </a:solidFill>
                <a:effectLst/>
                <a:latin typeface="Arial" panose="020B0604020202020204" pitchFamily="34" charset="0"/>
              </a:rPr>
              <a:t> – Execute the test cases manually and record results.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Arial" panose="020B0604020202020204" pitchFamily="34" charset="0"/>
              </a:rPr>
              <a:t>Bug Reporting</a:t>
            </a:r>
            <a:r>
              <a:rPr kumimoji="0" lang="en-US" altLang="en-US" sz="1800" b="0" i="0" u="none" strike="noStrike" cap="none" normalizeH="0" baseline="0" dirty="0">
                <a:ln>
                  <a:noFill/>
                </a:ln>
                <a:solidFill>
                  <a:schemeClr val="tx1"/>
                </a:solidFill>
                <a:effectLst/>
                <a:latin typeface="Arial" panose="020B0604020202020204" pitchFamily="34" charset="0"/>
              </a:rPr>
              <a:t> – Report any issues found in a bug tracking tool (Jira).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Manual testing ensures </a:t>
            </a:r>
            <a:r>
              <a:rPr kumimoji="0" lang="en-US" altLang="en-US" sz="1800" b="1" i="0" u="none" strike="noStrike" cap="none" normalizeH="0" baseline="0" dirty="0">
                <a:ln>
                  <a:noFill/>
                </a:ln>
                <a:solidFill>
                  <a:schemeClr val="tx1"/>
                </a:solidFill>
                <a:effectLst/>
                <a:latin typeface="Arial" panose="020B0604020202020204" pitchFamily="34" charset="0"/>
              </a:rPr>
              <a:t>all critical functionalities</a:t>
            </a:r>
            <a:r>
              <a:rPr kumimoji="0" lang="en-US" altLang="en-US" sz="1800" b="0" i="0" u="none" strike="noStrike" cap="none" normalizeH="0" baseline="0" dirty="0">
                <a:ln>
                  <a:noFill/>
                </a:ln>
                <a:solidFill>
                  <a:schemeClr val="tx1"/>
                </a:solidFill>
                <a:effectLst/>
                <a:latin typeface="Arial" panose="020B0604020202020204" pitchFamily="34" charset="0"/>
              </a:rPr>
              <a:t> like Homepage, Search, Product Listing, Login,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Navigation, and Footer links work correctly.</a:t>
            </a:r>
          </a:p>
        </p:txBody>
      </p:sp>
    </p:spTree>
    <p:extLst>
      <p:ext uri="{BB962C8B-B14F-4D97-AF65-F5344CB8AC3E}">
        <p14:creationId xmlns:p14="http://schemas.microsoft.com/office/powerpoint/2010/main" val="1295249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7840-8356-4E95-ACE8-9EB16D801079}"/>
              </a:ext>
            </a:extLst>
          </p:cNvPr>
          <p:cNvSpPr>
            <a:spLocks noGrp="1"/>
          </p:cNvSpPr>
          <p:nvPr>
            <p:ph type="title"/>
          </p:nvPr>
        </p:nvSpPr>
        <p:spPr/>
        <p:txBody>
          <a:bodyPr/>
          <a:lstStyle/>
          <a:p>
            <a:r>
              <a:rPr lang="en-US" dirty="0"/>
              <a:t>Test Cases Execution</a:t>
            </a:r>
            <a:endParaRPr lang="en-IN" dirty="0"/>
          </a:p>
        </p:txBody>
      </p:sp>
      <p:pic>
        <p:nvPicPr>
          <p:cNvPr id="5" name="Content Placeholder 4">
            <a:extLst>
              <a:ext uri="{FF2B5EF4-FFF2-40B4-BE49-F238E27FC236}">
                <a16:creationId xmlns:a16="http://schemas.microsoft.com/office/drawing/2014/main" id="{CDE594CB-2732-EA70-844F-417D610264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6663" y="1903274"/>
            <a:ext cx="9725890" cy="3965714"/>
          </a:xfrm>
        </p:spPr>
      </p:pic>
    </p:spTree>
    <p:extLst>
      <p:ext uri="{BB962C8B-B14F-4D97-AF65-F5344CB8AC3E}">
        <p14:creationId xmlns:p14="http://schemas.microsoft.com/office/powerpoint/2010/main" val="259774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5CC13-3B73-705D-4FFF-A39357B7E20D}"/>
              </a:ext>
            </a:extLst>
          </p:cNvPr>
          <p:cNvSpPr>
            <a:spLocks noGrp="1"/>
          </p:cNvSpPr>
          <p:nvPr>
            <p:ph type="title"/>
          </p:nvPr>
        </p:nvSpPr>
        <p:spPr/>
        <p:txBody>
          <a:bodyPr/>
          <a:lstStyle/>
          <a:p>
            <a:r>
              <a:rPr lang="en-US" dirty="0"/>
              <a:t>Sample Execution</a:t>
            </a:r>
            <a:endParaRPr lang="en-IN" dirty="0"/>
          </a:p>
        </p:txBody>
      </p:sp>
      <p:pic>
        <p:nvPicPr>
          <p:cNvPr id="5" name="Content Placeholder 4">
            <a:extLst>
              <a:ext uri="{FF2B5EF4-FFF2-40B4-BE49-F238E27FC236}">
                <a16:creationId xmlns:a16="http://schemas.microsoft.com/office/drawing/2014/main" id="{F41584D9-7554-4B5F-63FF-82DCE6C817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8720" y="1846263"/>
            <a:ext cx="4305994" cy="2226973"/>
          </a:xfrm>
        </p:spPr>
      </p:pic>
      <p:pic>
        <p:nvPicPr>
          <p:cNvPr id="11" name="Picture 10">
            <a:extLst>
              <a:ext uri="{FF2B5EF4-FFF2-40B4-BE49-F238E27FC236}">
                <a16:creationId xmlns:a16="http://schemas.microsoft.com/office/drawing/2014/main" id="{6D417D80-380C-1A42-FA07-EC07A0FD59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2486" y="1846264"/>
            <a:ext cx="4305995" cy="2226972"/>
          </a:xfrm>
          <a:prstGeom prst="rect">
            <a:avLst/>
          </a:prstGeom>
        </p:spPr>
      </p:pic>
      <p:pic>
        <p:nvPicPr>
          <p:cNvPr id="13" name="Picture 12">
            <a:extLst>
              <a:ext uri="{FF2B5EF4-FFF2-40B4-BE49-F238E27FC236}">
                <a16:creationId xmlns:a16="http://schemas.microsoft.com/office/drawing/2014/main" id="{2073BF58-AF63-E94E-18A8-430DC21BF4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6908" y="4247804"/>
            <a:ext cx="4247805" cy="1945178"/>
          </a:xfrm>
          <a:prstGeom prst="rect">
            <a:avLst/>
          </a:prstGeom>
        </p:spPr>
      </p:pic>
      <p:pic>
        <p:nvPicPr>
          <p:cNvPr id="15" name="Picture 14">
            <a:extLst>
              <a:ext uri="{FF2B5EF4-FFF2-40B4-BE49-F238E27FC236}">
                <a16:creationId xmlns:a16="http://schemas.microsoft.com/office/drawing/2014/main" id="{2CF94217-E0C2-9031-C782-1C65B03D28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2485" y="4247804"/>
            <a:ext cx="4305996" cy="1945178"/>
          </a:xfrm>
          <a:prstGeom prst="rect">
            <a:avLst/>
          </a:prstGeom>
        </p:spPr>
      </p:pic>
    </p:spTree>
    <p:extLst>
      <p:ext uri="{BB962C8B-B14F-4D97-AF65-F5344CB8AC3E}">
        <p14:creationId xmlns:p14="http://schemas.microsoft.com/office/powerpoint/2010/main" val="12198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58C88-7F3A-389B-3E4B-689F8846F41C}"/>
              </a:ext>
            </a:extLst>
          </p:cNvPr>
          <p:cNvSpPr>
            <a:spLocks noGrp="1"/>
          </p:cNvSpPr>
          <p:nvPr>
            <p:ph type="title"/>
          </p:nvPr>
        </p:nvSpPr>
        <p:spPr/>
        <p:txBody>
          <a:bodyPr/>
          <a:lstStyle/>
          <a:p>
            <a:r>
              <a:rPr lang="en-IN" dirty="0"/>
              <a:t>Automation Testing – Future Work</a:t>
            </a:r>
          </a:p>
        </p:txBody>
      </p:sp>
      <p:sp>
        <p:nvSpPr>
          <p:cNvPr id="3" name="Content Placeholder 2">
            <a:extLst>
              <a:ext uri="{FF2B5EF4-FFF2-40B4-BE49-F238E27FC236}">
                <a16:creationId xmlns:a16="http://schemas.microsoft.com/office/drawing/2014/main" id="{68C67DBA-BB7E-7BC0-A76F-FBD11417E6E2}"/>
              </a:ext>
            </a:extLst>
          </p:cNvPr>
          <p:cNvSpPr>
            <a:spLocks noGrp="1"/>
          </p:cNvSpPr>
          <p:nvPr>
            <p:ph idx="1"/>
          </p:nvPr>
        </p:nvSpPr>
        <p:spPr/>
        <p:txBody>
          <a:bodyPr/>
          <a:lstStyle/>
          <a:p>
            <a:r>
              <a:rPr lang="en-US" b="1" dirty="0"/>
              <a:t>What is Automation Testing?</a:t>
            </a:r>
            <a:endParaRPr lang="en-US" dirty="0"/>
          </a:p>
          <a:p>
            <a:pPr>
              <a:buFont typeface="Wingdings" panose="05000000000000000000" pitchFamily="2" charset="2"/>
              <a:buChar char="v"/>
            </a:pPr>
            <a:r>
              <a:rPr lang="en-US" dirty="0"/>
              <a:t>Using tools and scripts to test software </a:t>
            </a:r>
            <a:r>
              <a:rPr lang="en-US" b="1" dirty="0"/>
              <a:t>automatically</a:t>
            </a:r>
            <a:r>
              <a:rPr lang="en-US" dirty="0"/>
              <a:t> instead of manually.</a:t>
            </a:r>
          </a:p>
          <a:p>
            <a:pPr>
              <a:buFont typeface="Wingdings" panose="05000000000000000000" pitchFamily="2" charset="2"/>
              <a:buChar char="v"/>
            </a:pPr>
            <a:r>
              <a:rPr lang="en-US" b="1" dirty="0"/>
              <a:t>Speeds up testing</a:t>
            </a:r>
            <a:r>
              <a:rPr lang="en-US" dirty="0"/>
              <a:t>, increases accuracy, and generates reports.</a:t>
            </a:r>
          </a:p>
          <a:p>
            <a:r>
              <a:rPr lang="en-US" b="1" dirty="0"/>
              <a:t>Planned Test Cases:</a:t>
            </a:r>
            <a:endParaRPr lang="en-US" dirty="0"/>
          </a:p>
          <a:p>
            <a:pPr marL="457200" indent="-457200">
              <a:buFont typeface="+mj-lt"/>
              <a:buAutoNum type="arabicPeriod"/>
            </a:pPr>
            <a:r>
              <a:rPr lang="en-US" b="1" dirty="0"/>
              <a:t>Homepage Load Verification</a:t>
            </a:r>
            <a:r>
              <a:rPr lang="en-US" dirty="0"/>
              <a:t> – Homepage opens and title correct</a:t>
            </a:r>
          </a:p>
          <a:p>
            <a:pPr marL="457200" indent="-457200">
              <a:buFont typeface="+mj-lt"/>
              <a:buAutoNum type="arabicPeriod"/>
            </a:pPr>
            <a:r>
              <a:rPr lang="en-US" b="1" dirty="0"/>
              <a:t>Product Search Validation</a:t>
            </a:r>
            <a:r>
              <a:rPr lang="en-US" dirty="0"/>
              <a:t> – Search results verified</a:t>
            </a:r>
          </a:p>
          <a:p>
            <a:pPr marL="457200" indent="-457200">
              <a:buFont typeface="+mj-lt"/>
              <a:buAutoNum type="arabicPeriod"/>
            </a:pPr>
            <a:r>
              <a:rPr lang="en-US" b="1" dirty="0"/>
              <a:t>Product Listing Verification</a:t>
            </a:r>
            <a:r>
              <a:rPr lang="en-US" dirty="0"/>
              <a:t> – Categories and products display correctly</a:t>
            </a:r>
          </a:p>
          <a:p>
            <a:pPr marL="457200" indent="-457200">
              <a:buFont typeface="+mj-lt"/>
              <a:buAutoNum type="arabicPeriod"/>
            </a:pPr>
            <a:r>
              <a:rPr lang="en-US" b="1" dirty="0"/>
              <a:t>Product Details Verification</a:t>
            </a:r>
            <a:r>
              <a:rPr lang="en-US" dirty="0"/>
              <a:t> – Product page details correct</a:t>
            </a:r>
          </a:p>
          <a:p>
            <a:endParaRPr lang="en-IN" dirty="0"/>
          </a:p>
        </p:txBody>
      </p:sp>
    </p:spTree>
    <p:extLst>
      <p:ext uri="{BB962C8B-B14F-4D97-AF65-F5344CB8AC3E}">
        <p14:creationId xmlns:p14="http://schemas.microsoft.com/office/powerpoint/2010/main" val="164892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52F9-CCD5-0351-F165-46E9D4E8B4C0}"/>
              </a:ext>
            </a:extLst>
          </p:cNvPr>
          <p:cNvSpPr>
            <a:spLocks noGrp="1"/>
          </p:cNvSpPr>
          <p:nvPr>
            <p:ph type="title"/>
          </p:nvPr>
        </p:nvSpPr>
        <p:spPr/>
        <p:txBody>
          <a:bodyPr/>
          <a:lstStyle/>
          <a:p>
            <a:r>
              <a:rPr lang="en-IN" dirty="0"/>
              <a:t>Automation Testing – Future Work</a:t>
            </a:r>
          </a:p>
        </p:txBody>
      </p:sp>
      <p:sp>
        <p:nvSpPr>
          <p:cNvPr id="3" name="Content Placeholder 2">
            <a:extLst>
              <a:ext uri="{FF2B5EF4-FFF2-40B4-BE49-F238E27FC236}">
                <a16:creationId xmlns:a16="http://schemas.microsoft.com/office/drawing/2014/main" id="{8761FF9E-793C-516B-4353-DE081A0C31ED}"/>
              </a:ext>
            </a:extLst>
          </p:cNvPr>
          <p:cNvSpPr>
            <a:spLocks noGrp="1"/>
          </p:cNvSpPr>
          <p:nvPr>
            <p:ph idx="1"/>
          </p:nvPr>
        </p:nvSpPr>
        <p:spPr/>
        <p:txBody>
          <a:bodyPr/>
          <a:lstStyle/>
          <a:p>
            <a:r>
              <a:rPr lang="en-US" b="1" dirty="0"/>
              <a:t>Benefits:</a:t>
            </a:r>
            <a:endParaRPr lang="en-US" dirty="0"/>
          </a:p>
          <a:p>
            <a:pPr>
              <a:buFont typeface="Wingdings" panose="05000000000000000000" pitchFamily="2" charset="2"/>
              <a:buChar char="v"/>
            </a:pPr>
            <a:r>
              <a:rPr lang="en-US" dirty="0"/>
              <a:t>  Faster and repeatable</a:t>
            </a:r>
          </a:p>
          <a:p>
            <a:pPr>
              <a:buFont typeface="Wingdings" panose="05000000000000000000" pitchFamily="2" charset="2"/>
              <a:buChar char="v"/>
            </a:pPr>
            <a:r>
              <a:rPr lang="en-US" dirty="0"/>
              <a:t>Reduces human error</a:t>
            </a:r>
          </a:p>
          <a:p>
            <a:pPr>
              <a:buFont typeface="Wingdings" panose="05000000000000000000" pitchFamily="2" charset="2"/>
              <a:buChar char="v"/>
            </a:pPr>
            <a:r>
              <a:rPr lang="en-US" dirty="0"/>
              <a:t>Generates detailed reports</a:t>
            </a:r>
          </a:p>
          <a:p>
            <a:r>
              <a:rPr lang="en-US" b="1" dirty="0"/>
              <a:t>Next Steps:</a:t>
            </a:r>
            <a:endParaRPr lang="en-US" dirty="0"/>
          </a:p>
          <a:p>
            <a:pPr>
              <a:buFont typeface="Wingdings" panose="05000000000000000000" pitchFamily="2" charset="2"/>
              <a:buChar char="v"/>
            </a:pPr>
            <a:r>
              <a:rPr lang="en-US" dirty="0"/>
              <a:t>Set up </a:t>
            </a:r>
            <a:r>
              <a:rPr lang="en-US" b="1" dirty="0"/>
              <a:t>Eclipse project</a:t>
            </a:r>
            <a:r>
              <a:rPr lang="en-US" dirty="0"/>
              <a:t> with Selenium &amp; TestNG</a:t>
            </a:r>
          </a:p>
          <a:p>
            <a:pPr>
              <a:buFont typeface="Wingdings" panose="05000000000000000000" pitchFamily="2" charset="2"/>
              <a:buChar char="v"/>
            </a:pPr>
            <a:r>
              <a:rPr lang="en-US" dirty="0"/>
              <a:t>Implement automation scripts for all planned test cases</a:t>
            </a:r>
          </a:p>
          <a:p>
            <a:pPr>
              <a:buFont typeface="Wingdings" panose="05000000000000000000" pitchFamily="2" charset="2"/>
              <a:buChar char="v"/>
            </a:pPr>
            <a:r>
              <a:rPr lang="en-US" dirty="0"/>
              <a:t>Run scripts and </a:t>
            </a:r>
            <a:r>
              <a:rPr lang="en-US" b="1" dirty="0"/>
              <a:t>validate execution reports</a:t>
            </a:r>
            <a:endParaRPr lang="en-US" dirty="0"/>
          </a:p>
          <a:p>
            <a:endParaRPr lang="en-IN" dirty="0"/>
          </a:p>
        </p:txBody>
      </p:sp>
    </p:spTree>
    <p:extLst>
      <p:ext uri="{BB962C8B-B14F-4D97-AF65-F5344CB8AC3E}">
        <p14:creationId xmlns:p14="http://schemas.microsoft.com/office/powerpoint/2010/main" val="2890399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8BEB-0223-AF26-462B-22364E476A4B}"/>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56A68AC3-FEC9-271B-309E-072325450122}"/>
              </a:ext>
            </a:extLst>
          </p:cNvPr>
          <p:cNvSpPr>
            <a:spLocks noGrp="1"/>
          </p:cNvSpPr>
          <p:nvPr>
            <p:ph idx="1"/>
          </p:nvPr>
        </p:nvSpPr>
        <p:spPr/>
        <p:txBody>
          <a:bodyPr/>
          <a:lstStyle/>
          <a:p>
            <a:pPr>
              <a:buFont typeface="Wingdings" panose="05000000000000000000" pitchFamily="2" charset="2"/>
              <a:buChar char="v"/>
            </a:pPr>
            <a:r>
              <a:rPr lang="en-US" dirty="0"/>
              <a:t>Manual testing of the Amazon e-commerce website was completed successfully, and all major modules, including Homepage, Search, Product Listing, Navigation, Login, and Footer links, were thoroughly verified. No critical bugs were found during testing, ensuring that the website functions as expected.</a:t>
            </a:r>
          </a:p>
          <a:p>
            <a:pPr>
              <a:buFont typeface="Wingdings" panose="05000000000000000000" pitchFamily="2" charset="2"/>
              <a:buChar char="v"/>
            </a:pPr>
            <a:r>
              <a:rPr lang="en-US" dirty="0"/>
              <a:t>The next phase of the project involves automation testing using Selenium WebDriver and TestNG. This will help improve the speed, accuracy, and repeatability of tests, and will allow us to generate detailed execution reports for better analysis.</a:t>
            </a:r>
          </a:p>
          <a:p>
            <a:pPr>
              <a:buFont typeface="Wingdings" panose="05000000000000000000" pitchFamily="2" charset="2"/>
              <a:buChar char="v"/>
            </a:pPr>
            <a:r>
              <a:rPr lang="en-US" dirty="0"/>
              <a:t>Overall, the project demonstrates a complete QA workflow, following industry standards, and prepares a strong foundation for real-world applications and future enhancements. It also provides a professional showcase for academic and interview purposes.</a:t>
            </a:r>
          </a:p>
        </p:txBody>
      </p:sp>
    </p:spTree>
    <p:extLst>
      <p:ext uri="{BB962C8B-B14F-4D97-AF65-F5344CB8AC3E}">
        <p14:creationId xmlns:p14="http://schemas.microsoft.com/office/powerpoint/2010/main" val="225595138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55</TotalTime>
  <Words>523</Words>
  <Application>Microsoft Office PowerPoint</Application>
  <PresentationFormat>Widescreen</PresentationFormat>
  <Paragraphs>66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Retrospect</vt:lpstr>
      <vt:lpstr>                  Automation and Manual Testing of Amazon E-Commerce Website</vt:lpstr>
      <vt:lpstr>Project Objective</vt:lpstr>
      <vt:lpstr>Technologies Used</vt:lpstr>
      <vt:lpstr>Manual Testing</vt:lpstr>
      <vt:lpstr>Test Cases Execution</vt:lpstr>
      <vt:lpstr>Sample Execution</vt:lpstr>
      <vt:lpstr>Automation Testing – Future Work</vt:lpstr>
      <vt:lpstr>Automation Testing – Future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Nandhini Ganesan</dc:creator>
  <cp:lastModifiedBy>Nandhini Ganesan</cp:lastModifiedBy>
  <cp:revision>1</cp:revision>
  <dcterms:created xsi:type="dcterms:W3CDTF">2026-03-09T04:08:30Z</dcterms:created>
  <dcterms:modified xsi:type="dcterms:W3CDTF">2026-03-09T05:03:31Z</dcterms:modified>
</cp:coreProperties>
</file>